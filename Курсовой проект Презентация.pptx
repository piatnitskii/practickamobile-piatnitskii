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939" r:id="rId1"/>
  </p:sldMasterIdLst>
  <p:sldIdLst>
    <p:sldId id="256" r:id="rId2"/>
    <p:sldId id="257" r:id="rId3"/>
    <p:sldId id="261" r:id="rId4"/>
    <p:sldId id="273" r:id="rId5"/>
    <p:sldId id="274" r:id="rId6"/>
    <p:sldId id="272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clrMru>
    <a:srgbClr val="123BAE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9" d="100"/>
          <a:sy n="89" d="100"/>
        </p:scale>
        <p:origin x="-126" y="-6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pPr/>
              <a:t>12/20/2025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25097523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smtClean="0"/>
              <a:pPr/>
              <a:t>12/20/2025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41866229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pPr/>
              <a:t>12/20/2025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22558960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smtClean="0"/>
              <a:pPr/>
              <a:t>12/20/2025</a:t>
            </a:fld>
            <a:endParaRPr lang="en-US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399975098"/>
      </p:ext>
    </p:extLst>
  </p:cSld>
  <p:clrMapOvr>
    <a:masterClrMapping/>
  </p:clrMapOvr>
  <p:extLst>
    <p:ext uri="{DCECCB84-F9BA-43D5-87BE-67443E8EF086}">
      <p15:sldGuideLst xmlns:p15="http://schemas.microsoft.com/office/powerpoint/2012/main" xmlns="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smtClean="0"/>
              <a:pPr/>
              <a:t>12/20/2025</a:t>
            </a:fld>
            <a:endParaRPr lang="en-US" dirty="0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3691994714"/>
      </p:ext>
    </p:extLst>
  </p:cSld>
  <p:clrMapOvr>
    <a:masterClrMapping/>
  </p:clrMapOvr>
  <p:extLst>
    <p:ext uri="{DCECCB84-F9BA-43D5-87BE-67443E8EF086}">
      <p15:sldGuideLst xmlns:p15="http://schemas.microsoft.com/office/powerpoint/2012/main" xmlns="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smtClean="0"/>
              <a:pPr/>
              <a:t>12/20/2025</a:t>
            </a:fld>
            <a:endParaRPr lang="en-US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4097427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smtClean="0"/>
              <a:pPr/>
              <a:t>12/20/2025</a:t>
            </a:fld>
            <a:endParaRPr lang="en-US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5409447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pPr/>
              <a:t>12/20/2025</a:t>
            </a:fld>
            <a:endParaRPr lang="en-US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015439884"/>
      </p:ext>
    </p:extLst>
  </p:cSld>
  <p:clrMapOvr>
    <a:masterClrMapping/>
  </p:clrMapOvr>
  <p:extLst>
    <p:ext uri="{DCECCB84-F9BA-43D5-87BE-67443E8EF086}">
      <p15:sldGuideLst xmlns:p15="http://schemas.microsoft.com/office/powerpoint/2012/main" xmlns="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pPr/>
              <a:t>12/20/2025</a:t>
            </a:fld>
            <a:endParaRPr lang="en-US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3491524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smtClean="0"/>
              <a:pPr/>
              <a:t>12/20/2025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3879779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smtClean="0"/>
              <a:pPr/>
              <a:t>12/20/2025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5703332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smtClean="0"/>
              <a:pPr/>
              <a:t>12/20/2025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1058518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40" r:id="rId1"/>
    <p:sldLayoutId id="2147483941" r:id="rId2"/>
    <p:sldLayoutId id="2147483942" r:id="rId3"/>
    <p:sldLayoutId id="2147483943" r:id="rId4"/>
    <p:sldLayoutId id="2147483944" r:id="rId5"/>
    <p:sldLayoutId id="2147483945" r:id="rId6"/>
    <p:sldLayoutId id="2147483946" r:id="rId7"/>
    <p:sldLayoutId id="2147483947" r:id="rId8"/>
    <p:sldLayoutId id="2147483948" r:id="rId9"/>
    <p:sldLayoutId id="2147483949" r:id="rId10"/>
    <p:sldLayoutId id="214748395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 xmlns="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" y="2064183"/>
            <a:ext cx="12192000" cy="1540482"/>
          </a:xfrm>
          <a:solidFill>
            <a:srgbClr val="7030A0"/>
          </a:solidFill>
        </p:spPr>
        <p:txBody>
          <a:bodyPr>
            <a:norm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Учебная практика 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147454" y="3756280"/>
            <a:ext cx="7897091" cy="1175153"/>
          </a:xfrm>
        </p:spPr>
        <p:txBody>
          <a:bodyPr/>
          <a:lstStyle/>
          <a:p>
            <a:r>
              <a:rPr lang="ru-RU" b="1" dirty="0">
                <a:solidFill>
                  <a:srgbClr val="002060"/>
                </a:solidFill>
              </a:rPr>
              <a:t>Тема: Разработка мобильного приложения магазина одежды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3048000" y="202935"/>
            <a:ext cx="6669206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Министерство образования и науки Нижегородской области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Государственное бюджетное профессиональное </a:t>
            </a:r>
            <a:b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образовательное учреждение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 «Заволжский автомоторный техникум»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(ГБПОУ ЗАМТ)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2088674832"/>
              </p:ext>
            </p:extLst>
          </p:nvPr>
        </p:nvGraphicFramePr>
        <p:xfrm>
          <a:off x="858541" y="5083049"/>
          <a:ext cx="10723419" cy="6400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577765">
                  <a:extLst>
                    <a:ext uri="{9D8B030D-6E8A-4147-A177-3AD203B41FA5}">
                      <a16:colId xmlns:a16="http://schemas.microsoft.com/office/drawing/2014/main" xmlns="" val="856406293"/>
                    </a:ext>
                  </a:extLst>
                </a:gridCol>
                <a:gridCol w="5145654">
                  <a:extLst>
                    <a:ext uri="{9D8B030D-6E8A-4147-A177-3AD203B41FA5}">
                      <a16:colId xmlns:a16="http://schemas.microsoft.com/office/drawing/2014/main" xmlns="" val="3577592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Выполнил: Пятницкий Сергей Юрьевич</a:t>
                      </a:r>
                    </a:p>
                    <a:p>
                      <a:pPr algn="l"/>
                      <a:r>
                        <a:rPr lang="ru-RU" baseline="0" dirty="0"/>
                        <a:t>                       Студент группы ИС-22А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dirty="0"/>
                        <a:t>Руководитель:</a:t>
                      </a:r>
                      <a:r>
                        <a:rPr lang="ru-RU" baseline="0" dirty="0"/>
                        <a:t> Иванов Илья Александрович</a:t>
                      </a:r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xmlns="" val="3476427313"/>
                  </a:ext>
                </a:extLst>
              </a:tr>
            </a:tbl>
          </a:graphicData>
        </a:graphic>
      </p:graphicFrame>
      <p:sp>
        <p:nvSpPr>
          <p:cNvPr id="6" name="Прямоугольник 5"/>
          <p:cNvSpPr/>
          <p:nvPr/>
        </p:nvSpPr>
        <p:spPr>
          <a:xfrm>
            <a:off x="5313218" y="6026360"/>
            <a:ext cx="1565564" cy="7232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just">
              <a:spcBef>
                <a:spcPts val="600"/>
              </a:spcBef>
              <a:spcAft>
                <a:spcPts val="0"/>
              </a:spcAft>
            </a:pP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Заволжье</a:t>
            </a:r>
          </a:p>
          <a:p>
            <a:pPr marL="180340" marR="180340" algn="ctr">
              <a:spcBef>
                <a:spcPts val="600"/>
              </a:spcBef>
              <a:spcAft>
                <a:spcPts val="0"/>
              </a:spcAft>
            </a:pP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2025</a:t>
            </a:r>
          </a:p>
        </p:txBody>
      </p:sp>
    </p:spTree>
    <p:extLst>
      <p:ext uri="{BB962C8B-B14F-4D97-AF65-F5344CB8AC3E}">
        <p14:creationId xmlns:p14="http://schemas.microsoft.com/office/powerpoint/2010/main" xmlns="" val="42905341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rgbClr val="7030A0"/>
          </a:solidFill>
        </p:spPr>
        <p:txBody>
          <a:bodyPr>
            <a:norm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</a:rPr>
              <a:t>Обзор реализации приложения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52450" y="1828800"/>
            <a:ext cx="11087100" cy="4013200"/>
          </a:xfrm>
        </p:spPr>
        <p:txBody>
          <a:bodyPr>
            <a:normAutofit/>
          </a:bodyPr>
          <a:lstStyle/>
          <a:p>
            <a:pPr marL="0" indent="540000" algn="just">
              <a:spcBef>
                <a:spcPts val="0"/>
              </a:spcBef>
              <a:buNone/>
            </a:pPr>
            <a:r>
              <a:rPr lang="ru-RU" dirty="0" smtClean="0"/>
              <a:t>Мобильное приложение </a:t>
            </a:r>
            <a:r>
              <a:rPr lang="ru-RU" dirty="0" smtClean="0"/>
              <a:t>“</a:t>
            </a:r>
            <a:r>
              <a:rPr lang="en-US" dirty="0" smtClean="0"/>
              <a:t>Shoe Shop</a:t>
            </a:r>
            <a:r>
              <a:rPr lang="ru-RU" dirty="0" smtClean="0"/>
              <a:t>" </a:t>
            </a:r>
            <a:r>
              <a:rPr lang="ru-RU" dirty="0" smtClean="0"/>
              <a:t>— это удобное и производительное решение для </a:t>
            </a:r>
            <a:r>
              <a:rPr lang="ru-RU" dirty="0" err="1" smtClean="0"/>
              <a:t>онлайн-шопинга</a:t>
            </a:r>
            <a:r>
              <a:rPr lang="ru-RU" dirty="0" smtClean="0"/>
              <a:t> одежды, с интуитивным интерфейсом, быстрой навигацией и </a:t>
            </a:r>
            <a:r>
              <a:rPr lang="ru-RU" dirty="0" err="1" smtClean="0"/>
              <a:t>seamless</a:t>
            </a:r>
            <a:r>
              <a:rPr lang="ru-RU" dirty="0" smtClean="0"/>
              <a:t> опытом пользователя на </a:t>
            </a:r>
            <a:r>
              <a:rPr lang="ru-RU" dirty="0" err="1" smtClean="0"/>
              <a:t>iOS</a:t>
            </a:r>
            <a:r>
              <a:rPr lang="ru-RU" dirty="0" smtClean="0"/>
              <a:t>/</a:t>
            </a:r>
            <a:r>
              <a:rPr lang="ru-RU" dirty="0" err="1" smtClean="0"/>
              <a:t>Android</a:t>
            </a:r>
            <a:r>
              <a:rPr lang="ru-RU" dirty="0" smtClean="0"/>
              <a:t>. Оно оптимизировано для повседневного использования: каталог загружается мгновенно, поиск работает с </a:t>
            </a:r>
            <a:r>
              <a:rPr lang="ru-RU" dirty="0" err="1" smtClean="0"/>
              <a:t>автодополнением</a:t>
            </a:r>
            <a:r>
              <a:rPr lang="ru-RU" dirty="0" smtClean="0"/>
              <a:t>, корзина синхронизируется </a:t>
            </a:r>
            <a:r>
              <a:rPr lang="ru-RU" dirty="0" err="1" smtClean="0"/>
              <a:t>оффлайн</a:t>
            </a:r>
            <a:r>
              <a:rPr lang="ru-RU" dirty="0" smtClean="0"/>
              <a:t>, а уведомления приходят вовремя — все для максимального комфорта без лагов или сложностей.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9501118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rgbClr val="7030A0"/>
          </a:solidFill>
        </p:spPr>
        <p:txBody>
          <a:bodyPr>
            <a:norm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</a:rPr>
              <a:t>Диаграмма вариантов использования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xmlns="" id="{0DBEFCD6-D3F6-857A-A55D-CCF499E90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8800" y="1352153"/>
            <a:ext cx="6685917" cy="5429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4271465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36C0DBA-6C30-4CE3-062C-FB85A633D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E739F4A2-BE2D-F2E8-11D9-B28F9C2F2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rgbClr val="7030A0"/>
          </a:solidFill>
        </p:spPr>
        <p:txBody>
          <a:bodyPr>
            <a:norm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</a:rPr>
              <a:t>Архитектурные решения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24836A63-6730-2201-6EE6-DD30F26B54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450" y="1619795"/>
            <a:ext cx="11087100" cy="4424680"/>
          </a:xfrm>
        </p:spPr>
        <p:txBody>
          <a:bodyPr>
            <a:normAutofit lnSpcReduction="10000"/>
          </a:bodyPr>
          <a:lstStyle/>
          <a:p>
            <a:pPr marL="0" indent="540000" algn="just"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разработке приложения использовались следующие архитектурные решения:</a:t>
            </a:r>
          </a:p>
          <a:p>
            <a:pPr marL="0" indent="450000" algn="just">
              <a:lnSpc>
                <a:spcPct val="150000"/>
              </a:lnSpc>
              <a:spcBef>
                <a:spcPts val="0"/>
              </a:spcBef>
            </a:pPr>
            <a:r>
              <a:rPr lang="ru-RU" dirty="0" err="1"/>
              <a:t>Jetpack</a:t>
            </a:r>
            <a:r>
              <a:rPr lang="ru-RU" dirty="0"/>
              <a:t> </a:t>
            </a:r>
            <a:r>
              <a:rPr lang="ru-RU" dirty="0" err="1"/>
              <a:t>Compose</a:t>
            </a:r>
            <a:r>
              <a:rPr lang="ru-RU" dirty="0"/>
              <a:t> для UI.</a:t>
            </a:r>
          </a:p>
          <a:p>
            <a:pPr marL="0" indent="450000" algn="just">
              <a:lnSpc>
                <a:spcPct val="150000"/>
              </a:lnSpc>
              <a:spcBef>
                <a:spcPts val="0"/>
              </a:spcBef>
            </a:pPr>
            <a:r>
              <a:rPr lang="ru-RU" dirty="0"/>
              <a:t>Архитектура MVVM (Model-View-</a:t>
            </a:r>
            <a:r>
              <a:rPr lang="ru-RU" dirty="0" err="1"/>
              <a:t>ViewModel</a:t>
            </a:r>
            <a:r>
              <a:rPr lang="ru-RU" dirty="0"/>
              <a:t>) для разделения логики и представления.</a:t>
            </a:r>
          </a:p>
          <a:p>
            <a:pPr marL="0" indent="450000" algn="just">
              <a:lnSpc>
                <a:spcPct val="150000"/>
              </a:lnSpc>
              <a:spcBef>
                <a:spcPts val="0"/>
              </a:spcBef>
            </a:pPr>
            <a:r>
              <a:rPr lang="en-US" dirty="0"/>
              <a:t>Shared </a:t>
            </a:r>
            <a:r>
              <a:rPr lang="en-US" dirty="0" err="1"/>
              <a:t>preferenc</a:t>
            </a:r>
            <a:endParaRPr lang="en-US" dirty="0"/>
          </a:p>
          <a:p>
            <a:pPr marL="0" indent="450000" algn="just">
              <a:lnSpc>
                <a:spcPct val="150000"/>
              </a:lnSpc>
              <a:spcBef>
                <a:spcPts val="0"/>
              </a:spcBef>
            </a:pPr>
            <a:r>
              <a:rPr lang="ru-RU" dirty="0" err="1"/>
              <a:t>StateFlow</a:t>
            </a:r>
            <a:r>
              <a:rPr lang="ru-RU" dirty="0"/>
              <a:t> для реактивности.</a:t>
            </a:r>
            <a:endParaRPr lang="en-US" dirty="0"/>
          </a:p>
          <a:p>
            <a:pPr marL="0" indent="450000" algn="just">
              <a:lnSpc>
                <a:spcPct val="150000"/>
              </a:lnSpc>
              <a:spcBef>
                <a:spcPts val="0"/>
              </a:spcBef>
            </a:pPr>
            <a:r>
              <a:rPr lang="ru-RU" dirty="0" err="1"/>
              <a:t>Repository</a:t>
            </a:r>
            <a:r>
              <a:rPr lang="ru-RU" dirty="0"/>
              <a:t> </a:t>
            </a:r>
            <a:r>
              <a:rPr lang="ru-RU" dirty="0" err="1"/>
              <a:t>Pattern</a:t>
            </a:r>
            <a:r>
              <a:rPr lang="ru-RU" dirty="0"/>
              <a:t> для работы с данными</a:t>
            </a:r>
          </a:p>
          <a:p>
            <a:pPr marL="0" indent="540000" algn="just">
              <a:spcBef>
                <a:spcPts val="0"/>
              </a:spcBef>
              <a:buNone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055570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5D5BBD2-AC55-51DA-B174-63D1649DF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BFCAE6E8-39D7-1530-77CB-2650D780D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rgbClr val="7030A0"/>
          </a:solidFill>
        </p:spPr>
        <p:txBody>
          <a:bodyPr>
            <a:norm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</a:rPr>
              <a:t>Используемые библиотеки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211B4671-57B7-7403-475C-E02F9AB523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450" y="1619795"/>
            <a:ext cx="11087100" cy="4424680"/>
          </a:xfrm>
        </p:spPr>
        <p:txBody>
          <a:bodyPr>
            <a:normAutofit/>
          </a:bodyPr>
          <a:lstStyle/>
          <a:p>
            <a:pPr marL="0" indent="540000" algn="just">
              <a:spcBef>
                <a:spcPts val="0"/>
              </a:spcBef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разработке приложения использовались следующие библиотеки:</a:t>
            </a:r>
          </a:p>
          <a:p>
            <a:pPr marL="0" indent="450000" algn="just">
              <a:lnSpc>
                <a:spcPct val="150000"/>
              </a:lnSpc>
            </a:pPr>
            <a:r>
              <a:rPr lang="ru-RU" dirty="0" err="1"/>
              <a:t>Retrofit</a:t>
            </a:r>
            <a:r>
              <a:rPr lang="ru-RU" dirty="0"/>
              <a:t> — для взаимодействия с REST API.</a:t>
            </a:r>
          </a:p>
          <a:p>
            <a:pPr marL="0" indent="450000" algn="just">
              <a:lnSpc>
                <a:spcPct val="150000"/>
              </a:lnSpc>
            </a:pPr>
            <a:r>
              <a:rPr lang="ru-RU" dirty="0" err="1"/>
              <a:t>Room</a:t>
            </a:r>
            <a:r>
              <a:rPr lang="ru-RU" dirty="0"/>
              <a:t> — для локального хранения данных (если есть кэширование).</a:t>
            </a:r>
          </a:p>
          <a:p>
            <a:pPr marL="0" indent="450000" algn="just">
              <a:lnSpc>
                <a:spcPct val="150000"/>
              </a:lnSpc>
            </a:pPr>
            <a:r>
              <a:rPr lang="en-US" dirty="0"/>
              <a:t>Coil — </a:t>
            </a:r>
            <a:r>
              <a:rPr lang="ru-RU" dirty="0"/>
              <a:t>для загрузки изображений.</a:t>
            </a:r>
          </a:p>
          <a:p>
            <a:pPr marL="0" indent="450000" algn="just">
              <a:lnSpc>
                <a:spcPct val="150000"/>
              </a:lnSpc>
            </a:pPr>
            <a:r>
              <a:rPr lang="en-US" dirty="0"/>
              <a:t>Hilt Navigation Compose — </a:t>
            </a:r>
            <a:r>
              <a:rPr lang="ru-RU" dirty="0"/>
              <a:t>интеграция </a:t>
            </a:r>
            <a:r>
              <a:rPr lang="en-US" dirty="0"/>
              <a:t>Hilt </a:t>
            </a:r>
            <a:r>
              <a:rPr lang="ru-RU" dirty="0"/>
              <a:t>с </a:t>
            </a:r>
            <a:r>
              <a:rPr lang="en-US" dirty="0"/>
              <a:t>Jetpack Compose Navigation, </a:t>
            </a:r>
            <a:r>
              <a:rPr lang="ru-RU" dirty="0"/>
              <a:t>упрощает передачу зависимостей между экранами.</a:t>
            </a:r>
          </a:p>
          <a:p>
            <a:pPr marL="0" indent="450000" algn="just">
              <a:lnSpc>
                <a:spcPct val="150000"/>
              </a:lnSpc>
            </a:pPr>
            <a:endParaRPr lang="ru-RU" dirty="0"/>
          </a:p>
          <a:p>
            <a:pPr marL="0" indent="540000" algn="just">
              <a:spcBef>
                <a:spcPts val="0"/>
              </a:spcBef>
              <a:buNone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7447408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4131DBF-F67F-321F-064C-EF9C2817A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86B1980C-C5A7-140A-EEAB-D5C4328C33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2064183"/>
            <a:ext cx="12192000" cy="1540482"/>
          </a:xfrm>
          <a:solidFill>
            <a:srgbClr val="7030A0"/>
          </a:solidFill>
        </p:spPr>
        <p:txBody>
          <a:bodyPr>
            <a:norm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Учебная практика 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xmlns="" id="{FE6CAAA4-3022-C59D-B7C0-05696F0E97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47454" y="3756280"/>
            <a:ext cx="7897091" cy="1175153"/>
          </a:xfrm>
        </p:spPr>
        <p:txBody>
          <a:bodyPr/>
          <a:lstStyle/>
          <a:p>
            <a:r>
              <a:rPr lang="ru-RU" b="1" dirty="0">
                <a:solidFill>
                  <a:srgbClr val="002060"/>
                </a:solidFill>
              </a:rPr>
              <a:t>Тема: Разработка мобильного приложения магазина одежды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0576D228-6E50-6965-6CAE-460D4772A211}"/>
              </a:ext>
            </a:extLst>
          </p:cNvPr>
          <p:cNvSpPr/>
          <p:nvPr/>
        </p:nvSpPr>
        <p:spPr>
          <a:xfrm>
            <a:off x="3048000" y="202935"/>
            <a:ext cx="6669206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Министерство образования и науки Нижегородской области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Государственное бюджетное профессиональное </a:t>
            </a:r>
            <a:b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образовательное учреждение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 «Заволжский автомоторный техникум»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(ГБПОУ ЗАМТ)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xmlns="" id="{92FFF80C-668B-6DD6-E73D-4C19B99F0F38}"/>
              </a:ext>
            </a:extLst>
          </p:cNvPr>
          <p:cNvGraphicFramePr>
            <a:graphicFrameLocks noGrp="1"/>
          </p:cNvGraphicFramePr>
          <p:nvPr/>
        </p:nvGraphicFramePr>
        <p:xfrm>
          <a:off x="858541" y="5083049"/>
          <a:ext cx="10723419" cy="6400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577765">
                  <a:extLst>
                    <a:ext uri="{9D8B030D-6E8A-4147-A177-3AD203B41FA5}">
                      <a16:colId xmlns:a16="http://schemas.microsoft.com/office/drawing/2014/main" xmlns="" val="856406293"/>
                    </a:ext>
                  </a:extLst>
                </a:gridCol>
                <a:gridCol w="5145654">
                  <a:extLst>
                    <a:ext uri="{9D8B030D-6E8A-4147-A177-3AD203B41FA5}">
                      <a16:colId xmlns:a16="http://schemas.microsoft.com/office/drawing/2014/main" xmlns="" val="3577592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Выполнил: Пятницкий Сергей Юрьевич</a:t>
                      </a:r>
                    </a:p>
                    <a:p>
                      <a:pPr algn="l"/>
                      <a:r>
                        <a:rPr lang="ru-RU" baseline="0" dirty="0"/>
                        <a:t>                       Студент группы ИС-22А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dirty="0"/>
                        <a:t>Руководитель:</a:t>
                      </a:r>
                      <a:r>
                        <a:rPr lang="ru-RU" baseline="0" dirty="0"/>
                        <a:t> Иванов Илья Александрович</a:t>
                      </a:r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xmlns="" val="3476427313"/>
                  </a:ext>
                </a:extLst>
              </a:tr>
            </a:tbl>
          </a:graphicData>
        </a:graphic>
      </p:graphicFrame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xmlns="" id="{1248E6C9-6B8D-DCAD-04F6-65152AC3349C}"/>
              </a:ext>
            </a:extLst>
          </p:cNvPr>
          <p:cNvSpPr/>
          <p:nvPr/>
        </p:nvSpPr>
        <p:spPr>
          <a:xfrm>
            <a:off x="5313218" y="6026360"/>
            <a:ext cx="1565564" cy="7232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just">
              <a:spcBef>
                <a:spcPts val="600"/>
              </a:spcBef>
              <a:spcAft>
                <a:spcPts val="0"/>
              </a:spcAft>
            </a:pP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Заволжье</a:t>
            </a:r>
          </a:p>
          <a:p>
            <a:pPr marL="180340" marR="180340" algn="ctr">
              <a:spcBef>
                <a:spcPts val="600"/>
              </a:spcBef>
              <a:spcAft>
                <a:spcPts val="0"/>
              </a:spcAft>
            </a:pP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2025</a:t>
            </a:r>
          </a:p>
        </p:txBody>
      </p:sp>
    </p:spTree>
    <p:extLst>
      <p:ext uri="{BB962C8B-B14F-4D97-AF65-F5344CB8AC3E}">
        <p14:creationId xmlns:p14="http://schemas.microsoft.com/office/powerpoint/2010/main" xmlns="" val="362267198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Opulent</Template>
  <TotalTime>814</TotalTime>
  <Words>211</Words>
  <Application>Microsoft Office PowerPoint</Application>
  <PresentationFormat>Произвольный</PresentationFormat>
  <Paragraphs>38</Paragraphs>
  <Slides>6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7" baseType="lpstr">
      <vt:lpstr>Тема Office</vt:lpstr>
      <vt:lpstr>Учебная практика </vt:lpstr>
      <vt:lpstr>Обзор реализации приложения</vt:lpstr>
      <vt:lpstr>Диаграмма вариантов использования</vt:lpstr>
      <vt:lpstr>Архитектурные решения</vt:lpstr>
      <vt:lpstr>Используемые библиотеки</vt:lpstr>
      <vt:lpstr>Учебная практика </vt:lpstr>
    </vt:vector>
  </TitlesOfParts>
  <Company>SPecialiST RePack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Пользователь Windows</dc:creator>
  <cp:lastModifiedBy>android243</cp:lastModifiedBy>
  <cp:revision>52</cp:revision>
  <dcterms:created xsi:type="dcterms:W3CDTF">2022-06-15T10:15:27Z</dcterms:created>
  <dcterms:modified xsi:type="dcterms:W3CDTF">2025-12-20T05:58:06Z</dcterms:modified>
</cp:coreProperties>
</file>